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965960"/>
            <a:ext cx="6583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E8C55F"/>
                </a:solidFill>
                <a:latin typeface="Calibri"/>
              </a:rPr>
              <a:t>Eigo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337560"/>
            <a:ext cx="6309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EAF0FF"/>
                </a:solidFill>
                <a:latin typeface="Calibri"/>
              </a:rPr>
              <a:t>A dark-fantasy English learning adventure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EAF0FF"/>
                </a:solidFill>
                <a:latin typeface="Calibri"/>
              </a:rPr>
              <a:t>kids want to open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4709160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7FE7FF"/>
                </a:solidFill>
                <a:latin typeface="Calibri"/>
              </a:rPr>
              <a:t>英語クエスト — Learn English like an RPG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1447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0D8"/>
                </a:solidFill>
                <a:latin typeface="Calibri"/>
              </a:rPr>
              <a:t>Family project  ·  React + Flask + Gemini AI</a:t>
            </a:r>
          </a:p>
        </p:txBody>
      </p:sp>
      <p:pic>
        <p:nvPicPr>
          <p:cNvPr id="7" name="Picture 6" descr="wind-guardi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20000">
            <a:off x="7360920" y="1234440"/>
            <a:ext cx="1828800" cy="2438400"/>
          </a:xfrm>
          <a:prstGeom prst="rect">
            <a:avLst/>
          </a:prstGeom>
        </p:spPr>
      </p:pic>
      <p:pic>
        <p:nvPicPr>
          <p:cNvPr id="8" name="Picture 7" descr="wind-mini-boss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20000">
            <a:off x="9738360" y="1188720"/>
            <a:ext cx="1828800" cy="2743200"/>
          </a:xfrm>
          <a:prstGeom prst="rect">
            <a:avLst/>
          </a:prstGeom>
        </p:spPr>
      </p:pic>
      <p:pic>
        <p:nvPicPr>
          <p:cNvPr id="9" name="Picture 8" descr="wind-guardian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063240"/>
            <a:ext cx="2103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8C55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943600" cy="2240280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7FE7FF"/>
                </a:solidFill>
                <a:latin typeface="Calibri"/>
              </a:rPr>
              <a:t>Problems to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EAF0FF"/>
                </a:solidFill>
                <a:latin typeface="Calibri"/>
              </a:rPr>
              <a:t>•  Memorizing vocabulary is boring — kids don't stick with it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EAF0FF"/>
                </a:solidFill>
                <a:latin typeface="Calibri"/>
              </a:rPr>
              <a:t>•  The words they get wrong are the hardest to review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EAF0FF"/>
                </a:solidFill>
                <a:latin typeface="Calibri"/>
              </a:rPr>
              <a:t>•  Parents can't see how learning is going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5943600" cy="2423160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20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7FE7FF"/>
                </a:solidFill>
                <a:latin typeface="Calibri"/>
              </a:rPr>
              <a:t>Our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70832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0FF"/>
                </a:solidFill>
                <a:latin typeface="Calibri"/>
              </a:rPr>
              <a:t>Turn Eiken vocabulary, grammar and past exams into an adventure of world maps, stages and card rewards.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85232"/>
            <a:ext cx="26517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9FB0D8"/>
                </a:solidFill>
                <a:latin typeface="Calibri"/>
              </a:rPr>
              <a:t>Learning  </a:t>
            </a:r>
            <a:r>
              <a:rPr sz="1400" b="1">
                <a:solidFill>
                  <a:srgbClr val="E8C55F"/>
                </a:solidFill>
                <a:latin typeface="Calibri"/>
              </a:rPr>
              <a:t>= Power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285232"/>
            <a:ext cx="26517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9FB0D8"/>
                </a:solidFill>
                <a:latin typeface="Calibri"/>
              </a:rPr>
              <a:t>Quiz  </a:t>
            </a:r>
            <a:r>
              <a:rPr sz="1400" b="1">
                <a:solidFill>
                  <a:srgbClr val="E8C55F"/>
                </a:solidFill>
                <a:latin typeface="Calibri"/>
              </a:rPr>
              <a:t>= Battle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724144"/>
            <a:ext cx="26517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9FB0D8"/>
                </a:solidFill>
                <a:latin typeface="Calibri"/>
              </a:rPr>
              <a:t>Cards  </a:t>
            </a:r>
            <a:r>
              <a:rPr sz="1400" b="1">
                <a:solidFill>
                  <a:srgbClr val="E8C55F"/>
                </a:solidFill>
                <a:latin typeface="Calibri"/>
              </a:rPr>
              <a:t>= Companions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724144"/>
            <a:ext cx="26517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9FB0D8"/>
                </a:solidFill>
                <a:latin typeface="Calibri"/>
              </a:rPr>
              <a:t>Boss  </a:t>
            </a:r>
            <a:r>
              <a:rPr sz="1400" b="1">
                <a:solidFill>
                  <a:srgbClr val="E8C55F"/>
                </a:solidFill>
                <a:latin typeface="Calibri"/>
              </a:rPr>
              <a:t>= Milestone</a:t>
            </a:r>
          </a:p>
        </p:txBody>
      </p:sp>
      <p:pic>
        <p:nvPicPr>
          <p:cNvPr id="14" name="Picture 13" descr="p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325880"/>
            <a:ext cx="2212848" cy="4892040"/>
          </a:xfrm>
          <a:prstGeom prst="rect">
            <a:avLst/>
          </a:prstGeom>
        </p:spPr>
      </p:pic>
      <p:pic>
        <p:nvPicPr>
          <p:cNvPr id="15" name="Picture 14" descr="p2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1325880"/>
            <a:ext cx="221284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0040"/>
            <a:ext cx="10607040" cy="5971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38251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0D8"/>
                </a:solidFill>
                <a:latin typeface="Calibri"/>
              </a:rPr>
              <a:t>Home → World Map → Word List → Word Detail → Quiz → Stage Clear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8C55F"/>
                </a:solidFill>
                <a:latin typeface="Calibri"/>
              </a:rPr>
              <a:t>Vocabulary Quest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53312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Calibri"/>
              </a:rPr>
              <a:t>Today's 20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0D8"/>
                </a:solidFill>
                <a:latin typeface="Calibri"/>
              </a:rPr>
              <a:t>Pronunciation, meaning and example sentences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359152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95144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Calibri"/>
              </a:rPr>
              <a:t>Flashcards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7919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0D8"/>
                </a:solidFill>
                <a:latin typeface="Calibri"/>
              </a:rPr>
              <a:t>Repetition that locks words into memory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300984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36976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Calibri"/>
              </a:rPr>
              <a:t>Mini quiz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21024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0D8"/>
                </a:solidFill>
                <a:latin typeface="Calibri"/>
              </a:rPr>
              <a:t>Multiple-choice check after each unit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242816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78808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AF0FF"/>
                </a:solidFill>
                <a:latin typeface="Calibri"/>
              </a:rPr>
              <a:t>Weak-word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62856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0D8"/>
                </a:solidFill>
                <a:latin typeface="Calibri"/>
              </a:rPr>
              <a:t>Wrong answers come back first,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7FE7FF"/>
                </a:solidFill>
                <a:latin typeface="Calibri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7044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0D8"/>
                </a:solidFill>
                <a:latin typeface="Calibri"/>
              </a:rPr>
              <a:t>words /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2578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7FE7F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87044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0D8"/>
                </a:solidFill>
                <a:latin typeface="Calibri"/>
              </a:rPr>
              <a:t>worlds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2578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7FE7FF"/>
                </a:solidFill>
                <a:latin typeface="Calibri"/>
              </a:rPr>
              <a:t>1500+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87044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0D8"/>
                </a:solidFill>
                <a:latin typeface="Calibri"/>
              </a:rPr>
              <a:t>words</a:t>
            </a:r>
          </a:p>
        </p:txBody>
      </p:sp>
      <p:pic>
        <p:nvPicPr>
          <p:cNvPr id="22" name="Picture 21" descr="p3_w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325880"/>
            <a:ext cx="2212848" cy="4892040"/>
          </a:xfrm>
          <a:prstGeom prst="rect">
            <a:avLst/>
          </a:prstGeom>
        </p:spPr>
      </p:pic>
      <p:pic>
        <p:nvPicPr>
          <p:cNvPr id="23" name="Picture 22" descr="p4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1325880"/>
            <a:ext cx="221284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8C55F"/>
                </a:solidFill>
                <a:latin typeface="Calibri"/>
              </a:rPr>
              <a:t>Grammar 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035040" cy="886968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7218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C55F"/>
                </a:solidFill>
                <a:latin typeface="Calibri"/>
              </a:rPr>
              <a:t>Grammar lessons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AF0FF"/>
                </a:solidFill>
                <a:latin typeface="Calibri"/>
              </a:rPr>
              <a:t>Present perfect and more — explained gently with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95728"/>
            <a:ext cx="6035040" cy="886968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9631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C55F"/>
                </a:solidFill>
                <a:latin typeface="Calibri"/>
              </a:rPr>
              <a:t>Grammar quizzes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AF0FF"/>
                </a:solidFill>
                <a:latin typeface="Calibri"/>
              </a:rPr>
              <a:t>Understanding checks per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19856"/>
            <a:ext cx="6035040" cy="886968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C55F"/>
                </a:solidFill>
                <a:latin typeface="Calibri"/>
              </a:rPr>
              <a:t>Form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7705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AF0FF"/>
                </a:solidFill>
                <a:latin typeface="Calibri"/>
              </a:rPr>
              <a:t>Drills on word forms until they stick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6035040" cy="886968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4456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C55F"/>
                </a:solidFill>
                <a:latin typeface="Calibri"/>
              </a:rPr>
              <a:t>Warm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01184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AF0FF"/>
                </a:solidFill>
                <a:latin typeface="Calibri"/>
              </a:rPr>
              <a:t>Mistakes get “let's try again” — never punishment</a:t>
            </a:r>
          </a:p>
        </p:txBody>
      </p:sp>
      <p:pic>
        <p:nvPicPr>
          <p:cNvPr id="16" name="Picture 15" descr="grammar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37360"/>
            <a:ext cx="4663440" cy="2560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040880" y="4663440"/>
            <a:ext cx="4663440" cy="1188720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8463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E8C55F"/>
                </a:solidFill>
                <a:latin typeface="Calibri"/>
              </a:rPr>
              <a:t>“I have finished my homework.”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3400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0D8"/>
                </a:solidFill>
                <a:latin typeface="Calibri"/>
              </a:rPr>
              <a:t>Present perfect, straight from the lesson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8C55F"/>
                </a:solidFill>
                <a:latin typeface="Calibri"/>
              </a:rPr>
              <a:t>AI Practice × Eiken Prep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480560" cy="4206240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7FE7FF"/>
                </a:solidFill>
                <a:latin typeface="Calibri"/>
              </a:rPr>
              <a:t>AI practice (Gemini)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3886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Calibri"/>
              </a:rPr>
              <a:t>•  AI generates questions matched to each child's level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Calibri"/>
              </a:rPr>
              <a:t>•  Practice the Eiken interview with AI, scored on the spot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Calibri"/>
              </a:rPr>
              <a:t>•  AI checks essays and gives advice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371600"/>
            <a:ext cx="4480560" cy="4206240"/>
          </a:xfrm>
          <a:prstGeom prst="roundRect">
            <a:avLst>
              <a:gd name="adj" fmla="val 6000"/>
            </a:avLst>
          </a:prstGeom>
          <a:solidFill>
            <a:srgbClr val="141B3F"/>
          </a:solidFill>
          <a:ln w="12700">
            <a:solidFill>
              <a:srgbClr val="2A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57276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7FE7FF"/>
                </a:solidFill>
                <a:latin typeface="Calibri"/>
              </a:rPr>
              <a:t>Eiken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148840"/>
            <a:ext cx="3886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Calibri"/>
              </a:rPr>
              <a:t>•  Grade 3: vocabulary &amp; phrase sets included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Calibri"/>
              </a:rPr>
              <a:t>•  Grade Pre-2: practice + real-exam simulation mode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AF0FF"/>
                </a:solidFill>
                <a:latin typeface="Calibri"/>
              </a:rPr>
              <a:t>•  Focused review of only the questions you missed</a:t>
            </a:r>
          </a:p>
        </p:txBody>
      </p:sp>
      <p:pic>
        <p:nvPicPr>
          <p:cNvPr id="10" name="Picture 9" descr="p5_qu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371600"/>
            <a:ext cx="182880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8C55F"/>
                </a:solidFill>
                <a:latin typeface="Calibri"/>
              </a:rPr>
              <a:t>Card Rewards &amp; Progression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408176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441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F"/>
                </a:solidFill>
                <a:latin typeface="Calibri"/>
              </a:rPr>
              <a:t>Clear a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0078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0D8"/>
                </a:solidFill>
                <a:latin typeface="Calibri"/>
              </a:rPr>
              <a:t>Earn a hero card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322576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585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F"/>
                </a:solidFill>
                <a:latin typeface="Calibri"/>
              </a:rPr>
              <a:t>Defeat a boss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1518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0D8"/>
                </a:solidFill>
                <a:latin typeface="Calibri"/>
              </a:rPr>
              <a:t>Rare cards &amp; badges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236976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729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F"/>
                </a:solidFill>
                <a:latin typeface="Calibri"/>
              </a:rPr>
              <a:t>Keep reviewing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52958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0D8"/>
                </a:solidFill>
                <a:latin typeface="Calibri"/>
              </a:rPr>
              <a:t>Materials to upgrade your cards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151376"/>
            <a:ext cx="457200" cy="457200"/>
          </a:xfrm>
          <a:prstGeom prst="ellipse">
            <a:avLst/>
          </a:prstGeom>
          <a:solidFill>
            <a:srgbClr val="C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A0F2E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873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F0FF"/>
                </a:solidFill>
                <a:latin typeface="Calibri"/>
              </a:rPr>
              <a:t>Per-child 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4398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0D8"/>
                </a:solidFill>
                <a:latin typeface="Calibri"/>
              </a:rPr>
              <a:t>Progress and cards stay separate for siblings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937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FE7FF"/>
                </a:solidFill>
                <a:latin typeface="Calibri"/>
              </a:rPr>
              <a:t>8 elemental worlds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9612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E8C55F"/>
                </a:solidFill>
                <a:latin typeface="Calibri"/>
              </a:rPr>
              <a:t>Wind · Fire · Water · Thunder · Forest · Rock · Shadow · Light</a:t>
            </a:r>
          </a:p>
        </p:txBody>
      </p:sp>
      <p:pic>
        <p:nvPicPr>
          <p:cNvPr id="18" name="Picture 17" descr="reward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63040"/>
            <a:ext cx="4937760" cy="1920240"/>
          </a:xfrm>
          <a:prstGeom prst="rect">
            <a:avLst/>
          </a:prstGeom>
        </p:spPr>
      </p:pic>
      <p:pic>
        <p:nvPicPr>
          <p:cNvPr id="19" name="Picture 18" descr="wind-guardian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703320"/>
            <a:ext cx="1920240" cy="2560320"/>
          </a:xfrm>
          <a:prstGeom prst="rect">
            <a:avLst/>
          </a:prstGeom>
        </p:spPr>
      </p:pic>
      <p:pic>
        <p:nvPicPr>
          <p:cNvPr id="20" name="Picture 19" descr="p6_cl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3703320"/>
            <a:ext cx="1170432" cy="2587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