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965960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E8C55F"/>
                </a:solidFill>
                <a:latin typeface="Meiryo"/>
              </a:rPr>
              <a:t>英語クエスト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337560"/>
            <a:ext cx="6309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EAF0FF"/>
                </a:solidFill>
                <a:latin typeface="Meiryo"/>
              </a:rPr>
              <a:t>子どもが毎日ひらきたくなる、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EAF0FF"/>
                </a:solidFill>
                <a:latin typeface="Meiryo"/>
              </a:rPr>
              <a:t>ダークファンタジー英語学習アプリ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4709160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FE7FF"/>
                </a:solidFill>
                <a:latin typeface="Meiryo"/>
              </a:rPr>
              <a:t>Eigo Quest — Learn English like an RPG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1447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0D8"/>
                </a:solidFill>
                <a:latin typeface="Meiryo"/>
              </a:rPr>
              <a:t>ファミリープロジェクト  ·  React + Flask + Gemini AI</a:t>
            </a:r>
          </a:p>
        </p:txBody>
      </p:sp>
      <p:pic>
        <p:nvPicPr>
          <p:cNvPr id="7" name="Picture 6" descr="wind-guardi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7360920" y="1234440"/>
            <a:ext cx="1828800" cy="2438400"/>
          </a:xfrm>
          <a:prstGeom prst="rect">
            <a:avLst/>
          </a:prstGeom>
        </p:spPr>
      </p:pic>
      <p:pic>
        <p:nvPicPr>
          <p:cNvPr id="8" name="Picture 7" descr="wind-mini-bos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0000">
            <a:off x="9738360" y="1188720"/>
            <a:ext cx="1828800" cy="2743200"/>
          </a:xfrm>
          <a:prstGeom prst="rect">
            <a:avLst/>
          </a:prstGeom>
        </p:spPr>
      </p:pic>
      <p:pic>
        <p:nvPicPr>
          <p:cNvPr id="9" name="Picture 8" descr="wind-guardian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06324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Meiryo"/>
              </a:rPr>
              <a:t>プロジェクト概要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943600" cy="224028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7FE7FF"/>
                </a:solidFill>
                <a:latin typeface="Meiryo"/>
              </a:rPr>
              <a:t>解決したい課題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単語の暗記は退屈で、毎日つづかない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間違えた単語ほど、復習がむずかしい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保護者が学習の進み具合を把握できない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5943600" cy="242316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7FE7FF"/>
                </a:solidFill>
                <a:latin typeface="Meiryo"/>
              </a:rPr>
              <a:t>解決のアイデア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70832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0FF"/>
                </a:solidFill>
                <a:latin typeface="Meiryo"/>
              </a:rPr>
              <a:t>英検の単語・文法・過去問を「ワールドマップ × ステージ × カード報酬」の冒険ゲームに変える。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85232"/>
            <a:ext cx="26517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9FB0D8"/>
                </a:solidFill>
                <a:latin typeface="Meiryo"/>
              </a:rPr>
              <a:t>学習  </a:t>
            </a:r>
            <a:r>
              <a:rPr sz="1400" b="1">
                <a:solidFill>
                  <a:srgbClr val="E8C55F"/>
                </a:solidFill>
                <a:latin typeface="Meiryo"/>
              </a:rPr>
              <a:t>= パワーアップ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85232"/>
            <a:ext cx="26517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9FB0D8"/>
                </a:solidFill>
                <a:latin typeface="Meiryo"/>
              </a:rPr>
              <a:t>クイズ  </a:t>
            </a:r>
            <a:r>
              <a:rPr sz="1400" b="1">
                <a:solidFill>
                  <a:srgbClr val="E8C55F"/>
                </a:solidFill>
                <a:latin typeface="Meiryo"/>
              </a:rPr>
              <a:t>= バトル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724144"/>
            <a:ext cx="26517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9FB0D8"/>
                </a:solidFill>
                <a:latin typeface="Meiryo"/>
              </a:rPr>
              <a:t>カード  </a:t>
            </a:r>
            <a:r>
              <a:rPr sz="1400" b="1">
                <a:solidFill>
                  <a:srgbClr val="E8C55F"/>
                </a:solidFill>
                <a:latin typeface="Meiryo"/>
              </a:rPr>
              <a:t>= 仲間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724144"/>
            <a:ext cx="26517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9FB0D8"/>
                </a:solidFill>
                <a:latin typeface="Meiryo"/>
              </a:rPr>
              <a:t>ボス  </a:t>
            </a:r>
            <a:r>
              <a:rPr sz="1400" b="1">
                <a:solidFill>
                  <a:srgbClr val="E8C55F"/>
                </a:solidFill>
                <a:latin typeface="Meiryo"/>
              </a:rPr>
              <a:t>= 節目の挑戦</a:t>
            </a:r>
          </a:p>
        </p:txBody>
      </p:sp>
      <p:pic>
        <p:nvPicPr>
          <p:cNvPr id="14" name="Picture 13" descr="p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25880"/>
            <a:ext cx="2212848" cy="4892040"/>
          </a:xfrm>
          <a:prstGeom prst="rect">
            <a:avLst/>
          </a:prstGeom>
        </p:spPr>
      </p:pic>
      <p:pic>
        <p:nvPicPr>
          <p:cNvPr id="15" name="Picture 14" descr="p2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325880"/>
            <a:ext cx="221284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0040"/>
            <a:ext cx="10607040" cy="5971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38251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0D8"/>
                </a:solidFill>
                <a:latin typeface="Meiryo"/>
              </a:rPr>
              <a:t>ホーム → 世界地図 → 単語一覧 → 単語詳細 → 小テスト → ステージクリア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Meiryo"/>
              </a:rPr>
              <a:t>単語クエスト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5331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Meiryo"/>
              </a:rPr>
              <a:t>今日の20単語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D8"/>
                </a:solidFill>
                <a:latin typeface="Meiryo"/>
              </a:rPr>
              <a:t>発音・意味・例文つきで学ぶ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59152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Meiry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9514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Meiryo"/>
              </a:rPr>
              <a:t>フラッシュカード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7919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D8"/>
                </a:solidFill>
                <a:latin typeface="Meiryo"/>
              </a:rPr>
              <a:t>くり返しで記憶に定着させる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300984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Meiry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36976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Meiryo"/>
              </a:rPr>
              <a:t>小テスト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2102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D8"/>
                </a:solidFill>
                <a:latin typeface="Meiryo"/>
              </a:rPr>
              <a:t>選択式クイズで理解度をチェック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24281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Meiry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7880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Meiryo"/>
              </a:rPr>
              <a:t>弱点復習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62856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D8"/>
                </a:solidFill>
                <a:latin typeface="Meiryo"/>
              </a:rPr>
              <a:t>間違えた単語を優先して再出題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7FE7FF"/>
                </a:solidFill>
                <a:latin typeface="Meiryo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04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0D8"/>
                </a:solidFill>
                <a:latin typeface="Meiryo"/>
              </a:rPr>
              <a:t>単語 / 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2578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7FE7FF"/>
                </a:solidFill>
                <a:latin typeface="Meiryo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8704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0D8"/>
                </a:solidFill>
                <a:latin typeface="Meiryo"/>
              </a:rPr>
              <a:t>ワールド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2578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7FE7FF"/>
                </a:solidFill>
                <a:latin typeface="Meiryo"/>
              </a:rPr>
              <a:t>1500+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8704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0D8"/>
                </a:solidFill>
                <a:latin typeface="Meiryo"/>
              </a:rPr>
              <a:t>収録単語</a:t>
            </a:r>
          </a:p>
        </p:txBody>
      </p:sp>
      <p:pic>
        <p:nvPicPr>
          <p:cNvPr id="22" name="Picture 21" descr="p3_w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25880"/>
            <a:ext cx="2212848" cy="4892040"/>
          </a:xfrm>
          <a:prstGeom prst="rect">
            <a:avLst/>
          </a:prstGeom>
        </p:spPr>
      </p:pic>
      <p:pic>
        <p:nvPicPr>
          <p:cNvPr id="23" name="Picture 22" descr="p4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325880"/>
            <a:ext cx="221284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Meiryo"/>
              </a:rPr>
              <a:t>文法クエスト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035040" cy="886968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7218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C55F"/>
                </a:solidFill>
                <a:latin typeface="Meiryo"/>
              </a:rPr>
              <a:t>文法レッスン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0FF"/>
                </a:solidFill>
                <a:latin typeface="Meiryo"/>
              </a:rPr>
              <a:t>「現在完了」などを講解+例文でやさしく学ぶ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95728"/>
            <a:ext cx="6035040" cy="886968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C55F"/>
                </a:solidFill>
                <a:latin typeface="Meiryo"/>
              </a:rPr>
              <a:t>文法クイズ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0FF"/>
                </a:solidFill>
                <a:latin typeface="Meiryo"/>
              </a:rPr>
              <a:t>ステージごとの理解度チェック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19856"/>
            <a:ext cx="6035040" cy="886968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C55F"/>
                </a:solidFill>
                <a:latin typeface="Meiryo"/>
              </a:rPr>
              <a:t>形式練習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7705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0FF"/>
                </a:solidFill>
                <a:latin typeface="Meiryo"/>
              </a:rPr>
              <a:t>語形変化のフォームテストで定着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6035040" cy="886968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C55F"/>
                </a:solidFill>
                <a:latin typeface="Meiryo"/>
              </a:rPr>
              <a:t>やさしいフィードバック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01184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0FF"/>
                </a:solidFill>
                <a:latin typeface="Meiryo"/>
              </a:rPr>
              <a:t>間違えても「もう一度やってみよう」— 罰しない設計</a:t>
            </a:r>
          </a:p>
        </p:txBody>
      </p:sp>
      <p:pic>
        <p:nvPicPr>
          <p:cNvPr id="16" name="Picture 15" descr="grammar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37360"/>
            <a:ext cx="4663440" cy="2560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040880" y="4663440"/>
            <a:ext cx="4663440" cy="118872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846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E8C55F"/>
                </a:solidFill>
                <a:latin typeface="Meiryo"/>
              </a:rPr>
              <a:t>“I have finished my homework.”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3400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0D8"/>
                </a:solidFill>
                <a:latin typeface="Meiryo"/>
              </a:rPr>
              <a:t>現在完了の例文 — 「私は宿題を終えました。」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Meiryo"/>
              </a:rPr>
              <a:t>AI 練習 × 英検対策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480560" cy="420624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FE7FF"/>
                </a:solidFill>
                <a:latin typeface="Meiryo"/>
              </a:rPr>
              <a:t>AI 練習(Gemini)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AI が子どものレベルに合わせて問題を自動生成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英検の面接を AI と練習、その場で採点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英作文を AI がチェックしてアドバイス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71600"/>
            <a:ext cx="4480560" cy="420624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57276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FE7FF"/>
                </a:solidFill>
                <a:latin typeface="Meiryo"/>
              </a:rPr>
              <a:t>英検対策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14884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英検3級:単語・熟語セットを収録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英検準2級:練習モード+本番形式の模擬試験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Meiryo"/>
              </a:rPr>
              <a:t>•  間違えた問題だけを集中復習</a:t>
            </a:r>
          </a:p>
        </p:txBody>
      </p:sp>
      <p:pic>
        <p:nvPicPr>
          <p:cNvPr id="10" name="Picture 9" descr="p5_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371600"/>
            <a:ext cx="182880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Meiryo"/>
              </a:rPr>
              <a:t>カード報酬と成長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0817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441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F"/>
                </a:solidFill>
                <a:latin typeface="Meiryo"/>
              </a:rPr>
              <a:t>ステージクリア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007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0D8"/>
                </a:solidFill>
                <a:latin typeface="Meiryo"/>
              </a:rPr>
              <a:t>ヒーローカードを獲得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2257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Meiry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585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F"/>
                </a:solidFill>
                <a:latin typeface="Meiryo"/>
              </a:rPr>
              <a:t>ボス撃破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151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0D8"/>
                </a:solidFill>
                <a:latin typeface="Meiryo"/>
              </a:rPr>
              <a:t>レアカード・バッジ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Meiry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729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F"/>
                </a:solidFill>
                <a:latin typeface="Meiryo"/>
              </a:rPr>
              <a:t>復習の継続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295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0D8"/>
                </a:solidFill>
                <a:latin typeface="Meiryo"/>
              </a:rPr>
              <a:t>強化素材でカードを育成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15137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Meiry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873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F"/>
                </a:solidFill>
                <a:latin typeface="Meiryo"/>
              </a:rPr>
              <a:t>子どもごとに独立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439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0D8"/>
                </a:solidFill>
                <a:latin typeface="Meiryo"/>
              </a:rPr>
              <a:t>進捗・カードは兄弟で別々に管理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937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FE7FF"/>
                </a:solidFill>
                <a:latin typeface="Meiryo"/>
              </a:rPr>
              <a:t>8つの属性ワールド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9612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E8C55F"/>
                </a:solidFill>
                <a:latin typeface="Meiryo"/>
              </a:rPr>
              <a:t>風 · 火 · 水 · 雷 · 森 · 岩 · 影 · 光</a:t>
            </a:r>
          </a:p>
        </p:txBody>
      </p:sp>
      <p:pic>
        <p:nvPicPr>
          <p:cNvPr id="18" name="Picture 17" descr="reward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63040"/>
            <a:ext cx="4937760" cy="1920240"/>
          </a:xfrm>
          <a:prstGeom prst="rect">
            <a:avLst/>
          </a:prstGeom>
        </p:spPr>
      </p:pic>
      <p:pic>
        <p:nvPicPr>
          <p:cNvPr id="19" name="Picture 18" descr="wind-guardian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703320"/>
            <a:ext cx="1920240" cy="2560320"/>
          </a:xfrm>
          <a:prstGeom prst="rect">
            <a:avLst/>
          </a:prstGeom>
        </p:spPr>
      </p:pic>
      <p:pic>
        <p:nvPicPr>
          <p:cNvPr id="20" name="Picture 19" descr="p6_cl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3703320"/>
            <a:ext cx="1170432" cy="2587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